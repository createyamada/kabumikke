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f16363766b4a9f" /><Relationship Type="http://schemas.openxmlformats.org/officeDocument/2006/relationships/extended-properties" Target="/docProps/app.xml" Id="Rf8352a90a0e34434" /><Relationship Type="http://schemas.openxmlformats.org/officeDocument/2006/relationships/officeDocument" Target="/ppt/presentation.xml" Id="R517a3643241c4a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43dfd818034de5"/>
  </p:sldMasterIdLst>
  <p:notesMasterIdLst>
    <p:notesMasterId xmlns:r="http://schemas.openxmlformats.org/officeDocument/2006/relationships" r:id="R76baaf589aaf42b0"/>
  </p:notesMasterIdLst>
  <p:sldIdLst>
    <p:sldId xmlns:r="http://schemas.openxmlformats.org/officeDocument/2006/relationships" id="256" r:id="R292b259601cb4b5a"/>
    <p:sldId xmlns:r="http://schemas.openxmlformats.org/officeDocument/2006/relationships" id="257" r:id="R768670d8ce014856"/>
    <p:sldId xmlns:r="http://schemas.openxmlformats.org/officeDocument/2006/relationships" id="258" r:id="R6ca6eef8d0594f63"/>
    <p:sldId xmlns:r="http://schemas.openxmlformats.org/officeDocument/2006/relationships" id="259" r:id="R0c4f8ad3ec8b4e6b"/>
    <p:sldId xmlns:r="http://schemas.openxmlformats.org/officeDocument/2006/relationships" id="260" r:id="Rf85630f5afbc48b3"/>
    <p:sldId xmlns:r="http://schemas.openxmlformats.org/officeDocument/2006/relationships" id="261" r:id="R45f4310297bb4277"/>
    <p:sldId xmlns:r="http://schemas.openxmlformats.org/officeDocument/2006/relationships" id="262" r:id="Rae8761b2fb0e4fe9"/>
    <p:sldId xmlns:r="http://schemas.openxmlformats.org/officeDocument/2006/relationships" id="263" r:id="R9baf0fc742384805"/>
    <p:sldId xmlns:r="http://schemas.openxmlformats.org/officeDocument/2006/relationships" id="264" r:id="Re1d4644a49ab4cf1"/>
    <p:sldId xmlns:r="http://schemas.openxmlformats.org/officeDocument/2006/relationships" id="265" r:id="Ra4e0e98bbb4d49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17fa2a780c42b1" /><Relationship Type="http://schemas.openxmlformats.org/officeDocument/2006/relationships/slideMaster" Target="/ppt/slideMasters/slideMaster1.xml" Id="R9143dfd818034de5" /><Relationship Type="http://schemas.openxmlformats.org/officeDocument/2006/relationships/notesMaster" Target="/ppt/notesMasters/notesMaster1.xml" Id="R76baaf589aaf42b0" /><Relationship Type="http://schemas.openxmlformats.org/officeDocument/2006/relationships/presProps" Target="/ppt/presProps.xml" Id="Rf7bf1acc3b104f17" /><Relationship Type="http://schemas.openxmlformats.org/officeDocument/2006/relationships/tableStyles" Target="/ppt/tableStyles.xml" Id="Re17ea20b597542d0" /><Relationship Type="http://schemas.openxmlformats.org/officeDocument/2006/relationships/slide" Target="/ppt/slides/slide1.xml" Id="R292b259601cb4b5a" /><Relationship Type="http://schemas.openxmlformats.org/officeDocument/2006/relationships/slide" Target="/ppt/slides/slide2.xml" Id="R768670d8ce014856" /><Relationship Type="http://schemas.openxmlformats.org/officeDocument/2006/relationships/slide" Target="/ppt/slides/slide3.xml" Id="R6ca6eef8d0594f63" /><Relationship Type="http://schemas.openxmlformats.org/officeDocument/2006/relationships/slide" Target="/ppt/slides/slide4.xml" Id="R0c4f8ad3ec8b4e6b" /><Relationship Type="http://schemas.openxmlformats.org/officeDocument/2006/relationships/slide" Target="/ppt/slides/slide5.xml" Id="Rf85630f5afbc48b3" /><Relationship Type="http://schemas.openxmlformats.org/officeDocument/2006/relationships/slide" Target="/ppt/slides/slide6.xml" Id="R45f4310297bb4277" /><Relationship Type="http://schemas.openxmlformats.org/officeDocument/2006/relationships/slide" Target="/ppt/slides/slide7.xml" Id="Rae8761b2fb0e4fe9" /><Relationship Type="http://schemas.openxmlformats.org/officeDocument/2006/relationships/slide" Target="/ppt/slides/slide8.xml" Id="R9baf0fc742384805" /><Relationship Type="http://schemas.openxmlformats.org/officeDocument/2006/relationships/slide" Target="/ppt/slides/slide9.xml" Id="Re1d4644a49ab4cf1" /><Relationship Type="http://schemas.openxmlformats.org/officeDocument/2006/relationships/slide" Target="/ppt/slides/slide10.xml" Id="Ra4e0e98bbb4d49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d58ef576f54d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36c6d319084999" /><Relationship Type="http://schemas.openxmlformats.org/officeDocument/2006/relationships/notesMaster" Target="/ppt/notesMasters/notesMaster1.xml" Id="R67c182e2fb654f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736197530c44a9" /><Relationship Type="http://schemas.openxmlformats.org/officeDocument/2006/relationships/notesMaster" Target="/ppt/notesMasters/notesMaster1.xml" Id="R277d61ee61a445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5a528b3e9f4a81" /><Relationship Type="http://schemas.openxmlformats.org/officeDocument/2006/relationships/notesMaster" Target="/ppt/notesMasters/notesMaster1.xml" Id="Ra9ee2ed8706047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af605e106a4be9" /><Relationship Type="http://schemas.openxmlformats.org/officeDocument/2006/relationships/notesMaster" Target="/ppt/notesMasters/notesMaster1.xml" Id="Rfc31ac9359a94f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d3c6de79a4489d" /><Relationship Type="http://schemas.openxmlformats.org/officeDocument/2006/relationships/notesMaster" Target="/ppt/notesMasters/notesMaster1.xml" Id="Reb7ecb6b305c41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710bd651904917" /><Relationship Type="http://schemas.openxmlformats.org/officeDocument/2006/relationships/notesMaster" Target="/ppt/notesMasters/notesMaster1.xml" Id="Raadff60c774940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63e1dcc62c42f4" /><Relationship Type="http://schemas.openxmlformats.org/officeDocument/2006/relationships/notesMaster" Target="/ppt/notesMasters/notesMaster1.xml" Id="Rfc057c8bb1a84a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634701242543d9" /><Relationship Type="http://schemas.openxmlformats.org/officeDocument/2006/relationships/notesMaster" Target="/ppt/notesMasters/notesMaster1.xml" Id="R1703510563ee49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f9bd713c8a468b" /><Relationship Type="http://schemas.openxmlformats.org/officeDocument/2006/relationships/notesMaster" Target="/ppt/notesMasters/notesMaster1.xml" Id="Rb1dc4c74dfcc44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f1ba3484264653" /><Relationship Type="http://schemas.openxmlformats.org/officeDocument/2006/relationships/notesMaster" Target="/ppt/notesMasters/notesMaster1.xml" Id="R90d99dbaec3d4b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screen-forecast.png</a:t>
            </a:r>
          </a:p>
          <a:p xmlns:a="http://schemas.openxmlformats.org/drawingml/2006/main">
            <a:r>
              <a:t>- https://github.com/createyamada/kabunseki_web/blob/master/src/components/Main/Analysis.tsx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screen-forecast.png</a:t>
            </a:r>
          </a:p>
          <a:p xmlns:a="http://schemas.openxmlformats.org/drawingml/2006/main">
            <a:r>
              <a:t>- https://github.com/createyamada/kabunseki_web/blob/master/src/components/Main/Analysis.tsx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screen-forecast.png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screen-forecast.png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screen-model.png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screen-model.png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screen-tda.png</a:t>
            </a:r>
          </a:p>
          <a:p xmlns:a="http://schemas.openxmlformats.org/drawingml/2006/main">
            <a:r>
              <a:t>- Backend heuristic: loop_strength &lt;5% low, &lt;15% moderate, otherwise high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screenshots: screen-forecast.png, screen-model.png, screen-tda.png</a:t>
            </a:r>
          </a:p>
          <a:p xmlns:a="http://schemas.openxmlformats.org/drawingml/2006/main">
            <a:r>
              <a:t>- Thresholds are instructional heuristics and require strategy-specific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Decision sequence derived from the metrics displayed in Analysis.tsx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Thresholds are instructional heuristics and must be validated for each investment strategy.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7ddf4120bf4f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f2d1360d9349e1" /><Relationship Type="http://schemas.openxmlformats.org/officeDocument/2006/relationships/slideLayout" Target="/ppt/slideLayouts/slideLayout1.xml" Id="R57e2f816234148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e2f816234148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eaf26aa384862" /><Relationship Type="http://schemas.openxmlformats.org/officeDocument/2006/relationships/image" Target="/ppt/media/image.png" Id="Ref9989403ce14935" /><Relationship Type="http://schemas.openxmlformats.org/officeDocument/2006/relationships/notesSlide" Target="/ppt/notesSlides/notesSlide1.xml" Id="Rcf20359da2234e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d5df12e204383" /><Relationship Type="http://schemas.openxmlformats.org/officeDocument/2006/relationships/image" Target="/ppt/media/image2.png" Id="R899a71b79a234ed4" /><Relationship Type="http://schemas.openxmlformats.org/officeDocument/2006/relationships/notesSlide" Target="/ppt/notesSlides/notesSlide2.xml" Id="R20af93d72f4545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a8bcd20454824" /><Relationship Type="http://schemas.openxmlformats.org/officeDocument/2006/relationships/image" Target="/ppt/media/image3.png" Id="R6169425abadb40d8" /><Relationship Type="http://schemas.openxmlformats.org/officeDocument/2006/relationships/notesSlide" Target="/ppt/notesSlides/notesSlide3.xml" Id="R288b242387e04f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d1ac471424a45" /><Relationship Type="http://schemas.openxmlformats.org/officeDocument/2006/relationships/image" Target="/ppt/media/image4.png" Id="R9abdc4f14b7f4d90" /><Relationship Type="http://schemas.openxmlformats.org/officeDocument/2006/relationships/notesSlide" Target="/ppt/notesSlides/notesSlide4.xml" Id="R6f29c422f6084f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38162b3e947b4" /><Relationship Type="http://schemas.openxmlformats.org/officeDocument/2006/relationships/image" Target="/ppt/media/image5.png" Id="Rdba74341ca394021" /><Relationship Type="http://schemas.openxmlformats.org/officeDocument/2006/relationships/notesSlide" Target="/ppt/notesSlides/notesSlide5.xml" Id="R7036aa5613af4c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9d1c8335c497c" /><Relationship Type="http://schemas.openxmlformats.org/officeDocument/2006/relationships/image" Target="/ppt/media/image6.png" Id="R0edd1dbb266e4ead" /><Relationship Type="http://schemas.openxmlformats.org/officeDocument/2006/relationships/notesSlide" Target="/ppt/notesSlides/notesSlide6.xml" Id="R53a99cf5998a4b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f76b2c1364f83" /><Relationship Type="http://schemas.openxmlformats.org/officeDocument/2006/relationships/image" Target="/ppt/media/image7.png" Id="Rcbe62d5efe554978" /><Relationship Type="http://schemas.openxmlformats.org/officeDocument/2006/relationships/notesSlide" Target="/ppt/notesSlides/notesSlide7.xml" Id="R9d1f004a8f934a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ceec5fa354365" /><Relationship Type="http://schemas.openxmlformats.org/officeDocument/2006/relationships/notesSlide" Target="/ppt/notesSlides/notesSlide8.xml" Id="R7d7b38bef9d94d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a238cedde4a31" /><Relationship Type="http://schemas.openxmlformats.org/officeDocument/2006/relationships/notesSlide" Target="/ppt/notesSlides/notesSlide9.xml" Id="R37c314e1839741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11c43f1554310" /><Relationship Type="http://schemas.openxmlformats.org/officeDocument/2006/relationships/notesSlide" Target="/ppt/notesSlides/notesSlide10.xml" Id="R0ae609c58dd747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C640C-5E9D-4648-8409-025F88C9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4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株価予測画面の</a:t>
            </a:r>
          </a:p>
          <a:p xmlns:a="http://schemas.openxmlformats.org/drawingml/2006/main">
            <a:pPr algn="l">
              <a:defRPr sz="4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4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読み方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21E99-6DA6-4647-8C8D-E10330E3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回帰分析・バックテスト・TDAを</a:t>
            </a:r>
          </a:p>
          <a:p xmlns:a="http://schemas.openxmlformats.org/drawingml/2006/main">
            <a:pPr algn="l">
              <a:defRPr sz="18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初心者でも判断に使える形で理解する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E6101-8351-4AA1-99AC-3150FE27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2571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E8F0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D7C2E-291C-41E1-9BF6-B42C730D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画面例：銘柄コード 5802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BB3DF-E017-4633-A58D-8BE1BD29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47700"/>
            <a:ext cx="5791200" cy="5505450"/>
          </a:xfrm>
          <a:prstGeom xmlns:a="http://schemas.openxmlformats.org/drawingml/2006/main" prst="roundRect">
            <a:avLst>
              <a:gd name="adj" fmla="val 20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9989403ce14935"/>
          <a:srcRect xmlns:a="http://schemas.openxmlformats.org/drawingml/2006/main" l="13888" t="0" r="138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685800"/>
            <a:ext cx="5715000" cy="5429250"/>
          </a:xfrm>
          <a:prstGeom xmlns:a="http://schemas.openxmlformats.org/drawingml/2006/main" prst="roundRect">
            <a:avLst>
              <a:gd name="adj" fmla="val 140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E58180-C968-4612-BF2A-EE84962F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予測値は答えではなく、検証結果と一緒に読む</a:t>
            </a:r>
          </a:p>
        </p:txBody>
      </p:sp>
    </p:spTree>
    <p:extLst>
      <p:ext uri="{BB962C8B-B14F-4D97-AF65-F5344CB8AC3E}">
        <p14:creationId xmlns:p14="http://schemas.microsoft.com/office/powerpoint/2010/main" val="2848918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493AB4-2158-4393-83C9-A32BD4BB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株価分析ガイド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91374-F663-406B-AD2E-173D1D7C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結論：予測株価だけで売買を決めない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6B557-8FF5-40BA-8C85-358E5447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16E9B-7DF7-4C33-A8E9-A303828F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34CFC-9213-4E2D-A74F-10068B0E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6648450" cy="44577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9a71b79a234ed4"/>
          <a:stretch xmlns:a="http://schemas.openxmlformats.org/drawingml/2006/main"/>
        </p:blipFill>
        <p:spPr>
          <a:xfrm xmlns:a="http://schemas.openxmlformats.org/drawingml/2006/main">
            <a:off x="626650" y="1562100"/>
            <a:ext cx="6385750" cy="4381500"/>
          </a:xfrm>
          <a:prstGeom xmlns:a="http://schemas.openxmlformats.org/drawingml/2006/main" prst="roundRect">
            <a:avLst>
              <a:gd name="adj" fmla="val 173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C8DC6C-1356-4FD8-B2C1-39454ABF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43050"/>
            <a:ext cx="4000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AF38F6-9916-4F3B-A45D-9D1FF15E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8592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54FCCC-FCF4-4505-BE74-05B4766A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954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E36772-02E5-44BF-9012-FE507F44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予測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D8E41E-A9BD-4BF6-BC7A-F5F10F43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669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予測収益率と価格レンジを見る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818FBC-ECF4-4FEF-9232-0602D832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19350"/>
            <a:ext cx="4000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A91190-14CC-4376-8265-41049F89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6222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09AC1B-9CB0-4934-9443-CAFFE1F2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717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427087-5F5B-4565-8663-281FD7B3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95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精度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1AC9BE-79EE-46A3-A7DA-873E2681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432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改善率・方向一致率を見る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039AEB-41C8-4FB2-904D-8841CE80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95650"/>
            <a:ext cx="4000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8B64AD-A9C3-4B00-A3AC-5533D90D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3852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4C66F4-8458-44F9-870B-2439ECFB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480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D3F7CC-2C8F-4682-9564-55445CE7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71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安定性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6245E0-173D-48FB-928E-08E346A7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直近でも誤差が崩れていないか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6BFA8B-1665-470D-B5FC-C65A9B6A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71950"/>
            <a:ext cx="4000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80720F-07D5-436D-A6DB-4075EBF6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1482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EA7F37-4AF9-4D28-AD28-D952CD26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243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D9E39C-8F27-46C3-8240-C51766C5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48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収益性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7F13D4-7763-40F2-AC43-597973A8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958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買い持ちより優れているか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B5A26F-7196-4EC3-9387-5553C698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48250"/>
            <a:ext cx="4000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47A46D-ADF7-4740-A206-10054BF0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19112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A852C9-805E-4F14-B7F5-C65D6104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2006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A4107A-E436-4517-80B8-E40300C2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24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相場構造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1C0C0A-E17E-4543-804E-B963D23E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3721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TDAで複雑さを確認する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C38615-4D52-486B-A801-804FCF55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0483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301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5つがそろって初めて「比較的信頼できる候補」になる</a:t>
            </a:r>
          </a:p>
        </p:txBody>
      </p:sp>
    </p:spTree>
    <p:extLst>
      <p:ext uri="{BB962C8B-B14F-4D97-AF65-F5344CB8AC3E}">
        <p14:creationId xmlns:p14="http://schemas.microsoft.com/office/powerpoint/2010/main" val="20610214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F3DBA9-D22A-415B-B919-81DF974A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株価分析ガイド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0C4D0-7A94-4596-9946-4AD8B204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最初に見るのは「予測幅」と「予測リターン」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17178-478F-46BB-ABFF-F6DBD961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78ACE-0CB3-471F-A2F5-DF00B42E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772C3-8D6A-4A9D-B522-320C9A1C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7029450" cy="3505200"/>
          </a:xfrm>
          <a:prstGeom xmlns:a="http://schemas.openxmlformats.org/drawingml/2006/main" prst="roundRect">
            <a:avLst>
              <a:gd name="adj" fmla="val 32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69425abadb40d8"/>
          <a:srcRect xmlns:a="http://schemas.openxmlformats.org/drawingml/2006/main" l="0" t="14063" r="0" b="140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00200"/>
            <a:ext cx="6953250" cy="34290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8F2476-219E-49B0-8B0E-E1783897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857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E8F0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57BACA-9D57-4206-AC13-5E44E055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78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この例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1366C-F094-4673-B82E-B7C0D3C4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終値 ¥2,161.5 → 予測 ¥2,194.69（+1.54%）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5C1B5-AF16-454D-BC77-BD202348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197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80%予測レンジ：¥2,087.83 ～ ¥2,308.47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80287-8645-4B94-B4A8-F2FD0940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38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どう読む？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F663D-FCAA-432A-8A53-2B9FA06A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09800"/>
            <a:ext cx="3619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A017E2-9B62-4A99-925E-6AE9F9E0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336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DD478D-0CE3-4443-8C3D-18812D19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+1.54%は上昇予測。ただし精度ではない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613DC7-09F0-473A-80AE-405F4F53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3619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4D6592-401B-4578-953D-A592913A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765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0F8DED-5411-453F-96F6-EC6EB66A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990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レンジ内に下落側も含まれている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EB85B7-BA31-4D96-A5C2-EA878344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95700"/>
            <a:ext cx="3619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DBC129-4950-4167-ACD0-2CBF3689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195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0DE924-57D6-4C7B-98C4-1B6637C2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528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「80%」は的中確率80%ではない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CE4A70-2DF8-4C9D-A10A-B3B706DD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38650"/>
            <a:ext cx="3619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B620FD-3670-493D-B689-46567AEA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624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5C4EAA-6B18-4F47-95B7-7A415A0A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9580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採用モデル名より、次ページの評価が重要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3E4246-590A-44E1-B127-6572DBD4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86375"/>
            <a:ext cx="3619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7DAA63-3DD8-449C-87AD-55ABC5DA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292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309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B45309"/>
                </a:solidFill>
                <a:latin typeface="Noto Sans JP"/>
                <a:ea typeface="Noto Sans JP"/>
                <a:cs typeface="Noto Sans JP"/>
              </a:rPr>
              <a:t>予測レンジが広いほど、価格予測の不確実性は高い</a:t>
            </a:r>
          </a:p>
        </p:txBody>
      </p:sp>
    </p:spTree>
    <p:extLst>
      <p:ext uri="{BB962C8B-B14F-4D97-AF65-F5344CB8AC3E}">
        <p14:creationId xmlns:p14="http://schemas.microsoft.com/office/powerpoint/2010/main" val="5956809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7F9049-6BAF-4A10-8AA2-C878BEFC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株価分析ガイド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B5599-094C-4D5C-9818-526F15C4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回帰モデルは4つの指標で信頼度を測る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E561E-D9C8-49B3-8578-FC2D2C92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E08D2-E292-4415-90E8-907B987F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14CA3-FD54-4423-A96A-3792E50A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43050"/>
            <a:ext cx="693420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bdc4f14b7f4d90"/>
          <a:srcRect xmlns:a="http://schemas.openxmlformats.org/drawingml/2006/main" l="0" t="24697" r="0" b="246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581150"/>
            <a:ext cx="6858000" cy="238125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504FF-C007-4BDD-9CF6-EB889915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価格 RMSE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667F02-0631-4D6F-BBD0-9C552B98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481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¥96.67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ED400C-576F-4D40-9E45-A5E10341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267200"/>
            <a:ext cx="1381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E8F0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F9833-47B6-4F79-83C2-69AC155C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286250"/>
            <a:ext cx="1266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低いほど良い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1647A-E60C-45B6-96A5-FE5E866E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481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大きな外れを重く評価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3294EE-574F-4099-B2F6-5785B2C0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価格 MAE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F6DDF-8847-462F-9F36-303589C2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7434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¥67.26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D77CA-B85C-4B89-8041-0E6AD1FA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762500"/>
            <a:ext cx="1381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E8F0F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88DA51-0BBA-4CBE-8934-E58285B4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781550"/>
            <a:ext cx="1266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低いほど良い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C8D1DA-0E64-47CC-9D4A-110F09BC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434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平均的な誤差額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50D4F0-ED28-496F-B1C9-260BE8A3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改善率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AD7D9D-D8FF-471A-926B-274716E5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387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0.91%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63585A-C30A-4DF0-9F77-F6D8B8EC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257800"/>
            <a:ext cx="1381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CFC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EC697C-8E24-4606-B616-E4013963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5276850"/>
            <a:ext cx="1266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803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15803D"/>
                </a:solidFill>
                <a:latin typeface="Noto Sans JP"/>
                <a:ea typeface="Noto Sans JP"/>
                <a:cs typeface="Noto Sans JP"/>
              </a:rPr>
              <a:t>高いほど良い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DBF899-B51B-4F22-8501-1FD8D172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387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5%以上を一つの目安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0A16D0-2EE0-4052-8D92-07C6B35A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方向一致率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DD0858-47AE-45C7-8B62-5627DD05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7340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57.14%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77C7E6-8712-48C8-88DF-AEAD3CBD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753100"/>
            <a:ext cx="1381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CFC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A39A89-9F50-46CC-AE41-1652BE34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5772150"/>
            <a:ext cx="1266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803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15803D"/>
                </a:solidFill>
                <a:latin typeface="Noto Sans JP"/>
                <a:ea typeface="Noto Sans JP"/>
                <a:cs typeface="Noto Sans JP"/>
              </a:rPr>
              <a:t>高いほど良い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3E7D96-A917-474B-A80D-7F157B87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7340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55%以上＋十分な件数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9F9DB3-8620-4079-93DD-9C7B3CDF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383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この例の読み取り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3D2CDA-2C48-4040-8AB5-09285621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90750"/>
            <a:ext cx="357187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AC5FAC-FA85-49EF-BADF-538D09DD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050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803D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15803D"/>
                </a:solidFill>
                <a:latin typeface="Noto Sans JP"/>
                <a:ea typeface="Noto Sans JP"/>
                <a:cs typeface="Noto Sans JP"/>
              </a:rPr>
              <a:t>方向一致率 57.14%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085759-F0BE-457F-8013-F731243C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574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方向予測には一定の優位性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A8B86C-8795-4B33-87EB-9BF083F8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352800"/>
            <a:ext cx="357187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8F009F-8699-49AC-9FE5-205ADFA8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671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1C1C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B91C1C"/>
                </a:solidFill>
                <a:latin typeface="Noto Sans JP"/>
                <a:ea typeface="Noto Sans JP"/>
                <a:cs typeface="Noto Sans JP"/>
              </a:rPr>
              <a:t>改善率 0.91%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98F8CB-163A-427F-A969-2C8171C8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8195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単純予測との差は小さい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5A1D40-9E77-4FE7-BCBA-E870EF27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52950"/>
            <a:ext cx="357187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40B211-5837-4A5F-9E9F-8B4D3A3B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672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結論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FCD659-A9CA-476F-8E8E-60BD5BA3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1015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「方向はやや当たるが、誤差改善は弱い」</a:t>
            </a:r>
          </a:p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予測株価だけで強気判断はしない</a:t>
            </a:r>
          </a:p>
        </p:txBody>
      </p:sp>
    </p:spTree>
    <p:extLst>
      <p:ext uri="{BB962C8B-B14F-4D97-AF65-F5344CB8AC3E}">
        <p14:creationId xmlns:p14="http://schemas.microsoft.com/office/powerpoint/2010/main" val="18535053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28A2D0-6134-4187-8C07-C6D712CF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株価分析ガイド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69283C-B87A-44B1-98FD-5F51770A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採用モデルでも、直近で崩れていないか確認する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1FDD8-6000-4467-8CCC-14CD3424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D4567-D0D8-4307-9A63-D07C78E0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A82BA-1E1D-4E26-A1F2-4EC5B801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712470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74341ca394021"/>
          <a:srcRect xmlns:a="http://schemas.openxmlformats.org/drawingml/2006/main" l="0" t="31536" r="0" b="315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38300"/>
            <a:ext cx="7048500" cy="2286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5DA45-9260-45AF-8E33-F594B113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573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見る順番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D3BA2-4826-4360-878F-F3ACB572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33600"/>
            <a:ext cx="3333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673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① ウォークフォワードRMSE：過去を順に検証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② ホールドアウトRMSE：最後の未使用期間で検証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③ 2つが低く、近いほど安定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5E869-4265-444E-88AE-596E0EFD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4953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4B45F0-9788-4788-B36B-7392042E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乖離率 ＝ ホールドアウト ÷ ウォークフォワード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6DBF97-0223-4AE8-96F6-AB736AE3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1C1C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B91C1C"/>
                </a:solidFill>
                <a:latin typeface="Noto Sans JP"/>
                <a:ea typeface="Noto Sans JP"/>
                <a:cs typeface="Noto Sans JP"/>
              </a:rPr>
              <a:t>Ridge回帰：4.17% ÷ 1.86% ＝ 2.24倍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FC91A4-728E-4819-A7A9-7D6E2838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目安：1.25倍以内なら比較的安定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5E42E5-97A4-44B8-AFFF-40584CF7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86250"/>
            <a:ext cx="5715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0E1261-339F-46B0-BC8B-BC5207A4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4386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91C1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B91C1C"/>
                </a:solidFill>
                <a:latin typeface="Noto Sans JP"/>
                <a:ea typeface="Noto Sans JP"/>
                <a:cs typeface="Noto Sans JP"/>
              </a:rPr>
              <a:t>この例は直近で誤差が約2.24倍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75F0F-AD10-4019-89B4-7D376136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7680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採用モデルでも、最近の相場では精度が落ちている可能性。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「採用」表示だけでは信頼できない。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44AE9E-3AE4-4164-88DC-14C107EF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低いほど良い　＋　2つの差が小さいほど良い</a:t>
            </a:r>
          </a:p>
        </p:txBody>
      </p:sp>
    </p:spTree>
    <p:extLst>
      <p:ext uri="{BB962C8B-B14F-4D97-AF65-F5344CB8AC3E}">
        <p14:creationId xmlns:p14="http://schemas.microsoft.com/office/powerpoint/2010/main" val="12632294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B2C21D-40A5-4A5E-8DA0-C2D4D18F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株価分析ガイド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90432-74EE-4EBC-AAA6-F4C59A84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利益が出ても、買い持ちに負ければ優位性は弱い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D2B48-7C34-4E75-BC2E-D748F4AC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625B5-0799-48A7-8253-5049DAB3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A2DBA-A61B-4926-B6BF-832B396D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6743700" cy="40767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d1dbb266e4ead"/>
          <a:srcRect xmlns:a="http://schemas.openxmlformats.org/drawingml/2006/main" l="0" t="15841" r="0" b="158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19250"/>
            <a:ext cx="6667500" cy="4000500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75659-F877-4BE6-9C5D-1D628953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573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戦略リターン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88EC7-A949-4BEC-B2DA-29096532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192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15803D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15803D"/>
                </a:solidFill>
                <a:latin typeface="Noto Sans JP"/>
                <a:ea typeface="Noto Sans JP"/>
                <a:cs typeface="Noto Sans JP"/>
              </a:rPr>
              <a:t>111.86%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5A244-EC8B-4383-B549-55F655F6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57400"/>
            <a:ext cx="373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5982B4-5C2B-41F0-A364-9500F315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336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買い持ち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8A291-A597-4209-8BBA-40F11CB4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955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2563EB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163.19%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0BBA50-1A5A-429E-901B-9E30233C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33700"/>
            <a:ext cx="373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14F5F9-9533-4690-842D-DF581F23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099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シャープレシオ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60F224-AD79-4339-B3DB-349EB0C6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718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15803D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15803D"/>
                </a:solidFill>
                <a:latin typeface="Noto Sans JP"/>
                <a:ea typeface="Noto Sans JP"/>
                <a:cs typeface="Noto Sans JP"/>
              </a:rPr>
              <a:t>1.74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4694CF-42A7-4052-884E-735301A8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10000"/>
            <a:ext cx="373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8BAD03-BDD2-4154-A579-6E844C22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862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最大ドローダウン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CAC0FB-701E-4EFD-9113-B6C838BE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481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B91C1C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B91C1C"/>
                </a:solidFill>
                <a:latin typeface="Noto Sans JP"/>
                <a:ea typeface="Noto Sans JP"/>
                <a:cs typeface="Noto Sans JP"/>
              </a:rPr>
              <a:t>-34.19%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2E7B2D-F0D1-40D0-9BD9-46BB7A4E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86300"/>
            <a:ext cx="373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C8CD70-66EB-49CA-ACC8-33005B09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295900"/>
            <a:ext cx="37338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F65D5B-7111-45AB-A0CD-6625E8E4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410200"/>
            <a:ext cx="339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2603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530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B45309"/>
                </a:solidFill>
                <a:latin typeface="Noto Sans JP"/>
                <a:ea typeface="Noto Sans JP"/>
                <a:cs typeface="Noto Sans JP"/>
              </a:rPr>
              <a:t>収益はプラスでも買い持ちに約51ポイント負け。</a:t>
            </a:r>
          </a:p>
          <a:p xmlns:a="http://schemas.openxmlformats.org/drawingml/2006/main">
            <a:pPr algn="l">
              <a:defRPr sz="1275" b="1">
                <a:solidFill>
                  <a:srgbClr val="B4530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B45309"/>
                </a:solidFill>
                <a:latin typeface="Noto Sans JP"/>
                <a:ea typeface="Noto Sans JP"/>
                <a:cs typeface="Noto Sans JP"/>
              </a:rPr>
              <a:t>最大下落も大きいため、優位性は弱い。</a:t>
            </a:r>
          </a:p>
        </p:txBody>
      </p:sp>
    </p:spTree>
    <p:extLst>
      <p:ext uri="{BB962C8B-B14F-4D97-AF65-F5344CB8AC3E}">
        <p14:creationId xmlns:p14="http://schemas.microsoft.com/office/powerpoint/2010/main" val="20158238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4BEA27-6D0F-4687-820D-D9DD0020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回帰分析を補助するTDA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FDA0F-A279-4DE0-81BD-B380B2A7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TDAは方向ではなく、相場の複雑さを測る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32A0D-7ACC-4D0D-AD9C-4F51480D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B454A-DA11-4EED-928F-CBA79A0D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06889C-A337-4CBA-AA8F-35A154BD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674370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e62d5efe554978"/>
          <a:stretch xmlns:a="http://schemas.openxmlformats.org/drawingml/2006/main"/>
        </p:blipFill>
        <p:spPr>
          <a:xfrm xmlns:a="http://schemas.openxmlformats.org/drawingml/2006/main">
            <a:off x="533400" y="1680734"/>
            <a:ext cx="6667500" cy="3972783"/>
          </a:xfrm>
          <a:prstGeom xmlns:a="http://schemas.openxmlformats.org/drawingml/2006/main" prst="roundRect">
            <a:avLst>
              <a:gd name="adj" fmla="val 186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0634A-BC76-4272-87AA-D16DD336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38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この例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25AEE-919A-4EBB-954A-3D128CFD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76450"/>
            <a:ext cx="2190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AFE"/>
          </a:solidFill>
          <a:ln xmlns:a="http://schemas.openxmlformats.org/drawingml/2006/main" w="9525">
            <a:solidFill>
              <a:srgbClr val="F1EA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7457A6-8332-4349-AD59-84501835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955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C3AE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7C3AED"/>
                </a:solidFill>
                <a:latin typeface="Noto Sans JP"/>
                <a:ea typeface="Noto Sans JP"/>
                <a:cs typeface="Noto Sans JP"/>
              </a:rPr>
              <a:t>中程度の複雑度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74B17A-67A1-4A3C-BE47-0EDA6A2D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C3AED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7C3AED"/>
                </a:solidFill>
                <a:latin typeface="Noto Sans JP"/>
                <a:ea typeface="Noto Sans JP"/>
                <a:cs typeface="Noto Sans JP"/>
              </a:rPr>
              <a:t>ループ強度 7.86%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E31BDF-D045-4C5E-BA9D-083B4094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242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バックエンドの区分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0C32D9-CA30-4663-85B8-AACEAF71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24250"/>
            <a:ext cx="3429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CFC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242C27-C25B-4472-B965-76027CC9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718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803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5803D"/>
                </a:solidFill>
                <a:latin typeface="Noto Sans JP"/>
                <a:ea typeface="Noto Sans JP"/>
                <a:cs typeface="Noto Sans JP"/>
              </a:rPr>
              <a:t>5%未満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0958B0-F126-464A-846A-30EB5A64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718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5803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5803D"/>
                </a:solidFill>
                <a:latin typeface="Noto Sans JP"/>
                <a:ea typeface="Noto Sans JP"/>
                <a:cs typeface="Noto Sans JP"/>
              </a:rPr>
              <a:t>低い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C4860F-A454-4854-B328-3B6C908E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76700"/>
            <a:ext cx="3429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109850-52C7-46B6-92DE-40FDB502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2432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530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B45309"/>
                </a:solidFill>
                <a:latin typeface="Noto Sans JP"/>
                <a:ea typeface="Noto Sans JP"/>
                <a:cs typeface="Noto Sans JP"/>
              </a:rPr>
              <a:t>5～15%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9FCEEB-DB9A-4411-9E37-BAB6A77D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2432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B4530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B45309"/>
                </a:solidFill>
                <a:latin typeface="Noto Sans JP"/>
                <a:ea typeface="Noto Sans JP"/>
                <a:cs typeface="Noto Sans JP"/>
              </a:rPr>
              <a:t>中程度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7026A0-74C0-4FC6-B9BF-171AE5BB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29150"/>
            <a:ext cx="3429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EE2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949E9D-F9DA-4AD7-BA75-4F77CB82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767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1C1C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B91C1C"/>
                </a:solidFill>
                <a:latin typeface="Noto Sans JP"/>
                <a:ea typeface="Noto Sans JP"/>
                <a:cs typeface="Noto Sans JP"/>
              </a:rPr>
              <a:t>15%以上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05DB7A-69B6-4A7B-A92F-C630188D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767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B91C1C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B91C1C"/>
                </a:solidFill>
                <a:latin typeface="Noto Sans JP"/>
                <a:ea typeface="Noto Sans JP"/>
                <a:cs typeface="Noto Sans JP"/>
              </a:rPr>
              <a:t>高い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59B92B-7036-4078-9C6B-31FDD753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14950"/>
            <a:ext cx="3429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34998D-F4E6-46C1-82EC-C6C80CD3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29250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高複雑度なら予測を割り引く。</a:t>
            </a:r>
          </a:p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ただし低複雑度＝上昇ではない。</a:t>
            </a:r>
          </a:p>
        </p:txBody>
      </p:sp>
    </p:spTree>
    <p:extLst>
      <p:ext uri="{BB962C8B-B14F-4D97-AF65-F5344CB8AC3E}">
        <p14:creationId xmlns:p14="http://schemas.microsoft.com/office/powerpoint/2010/main" val="1510723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38A987F-1F50-41E1-B75D-05981191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画面の数値を実際に評価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0886B-3553-4EF6-9E2B-5E9F1A68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5802の判定：方向予測は良いが、総合信頼度は低い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79951E-0D7B-4533-8AA0-A2D6F07E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3035A-579E-4F6F-96BF-D5347E72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0E415-2C03-4225-9E34-A4368F5D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指標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71FF8-2643-498A-AC16-65ED1269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240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画面の値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F488C-A2AD-4BBF-A323-BE6D2AB9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目安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0F4ED7-077E-41C9-A2A5-F62B3F7E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240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判定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5DD3B-B7B7-4E4A-9B2D-5894746E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9077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4F87F0-01B4-4B73-B5E3-D16D5358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改善率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600FD-B65E-4BA8-9A0C-5847D51F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240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0.91%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E6C28D-3123-4BBF-B3DF-22648CA0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5%以上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12F196-1AA4-4A34-A9EC-E1BEBD71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71675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EE2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BD812E-3278-4294-BC09-8229AD2A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9907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91C1C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B91C1C"/>
                </a:solidFill>
                <a:latin typeface="Noto Sans JP"/>
                <a:ea typeface="Noto Sans JP"/>
                <a:cs typeface="Noto Sans JP"/>
              </a:rPr>
              <a:t>未達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DE51AB-6BEF-41A3-835E-2699B111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33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4721F4-22A9-4FEA-AFBC-A1CCBDA5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方向一致率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143312-2875-4D12-9EE1-0B7983EA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57.14%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2A6E3E-6B0F-49DD-9F00-DDB0870D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669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55%以上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73C50B-F576-4747-9CE7-41207F22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1460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CFC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03984B-BE30-485C-90B4-84FCDCE9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3365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803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15803D"/>
                </a:solidFill>
                <a:latin typeface="Noto Sans JP"/>
                <a:ea typeface="Noto Sans JP"/>
                <a:cs typeface="Noto Sans JP"/>
              </a:rPr>
              <a:t>合格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DE3AB2-57E8-47A5-AAD2-C352E234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66E77F-44BB-48A8-B561-398AD3D7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RMSE乖離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C06320-B61A-4199-B5FD-E8AD8D2A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099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2.24倍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A82049-7656-4865-A4E0-4C438534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99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1.25倍以内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43C4F9-E9F4-4983-A64E-F28B3D92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57525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EE2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84685D-3B51-45FA-BABD-45ECB582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07657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91C1C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B91C1C"/>
                </a:solidFill>
                <a:latin typeface="Noto Sans JP"/>
                <a:ea typeface="Noto Sans JP"/>
                <a:cs typeface="Noto Sans JP"/>
              </a:rPr>
              <a:t>未達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EF6E32-EFC3-45DE-9E0A-634D83E3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95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378EC4-78D6-471C-B8C1-4B1612D4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52825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シャープレシオ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496FEB-BF24-463B-9C6C-6BFCE3CE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5282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1.74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650AE3-B2AD-4A26-BDC8-DAC9A66D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528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1.0以上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8E0920-199C-41AF-9B29-978EDC5D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0045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CFC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BBF98C-B698-49B7-B838-D7A37BB8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6195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803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15803D"/>
                </a:solidFill>
                <a:latin typeface="Noto Sans JP"/>
                <a:ea typeface="Noto Sans JP"/>
                <a:cs typeface="Noto Sans JP"/>
              </a:rPr>
              <a:t>合格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98A6D8-4BF4-45AF-B0D8-75A2F5EB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6247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80F3F7-6FA5-4EC2-8CB2-CE09A01F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戦略 vs 買い持ち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320C67-07F4-4A2C-8997-6269E850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957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111.86% &lt; 163.19%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80EA74-DE3C-4870-9140-A22B4B50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戦略が上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5F9C04-B332-48F4-B142-ECD12AFD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143375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EE2E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9FEECC-5012-4971-A086-099AE02D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1624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91C1C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B91C1C"/>
                </a:solidFill>
                <a:latin typeface="Noto Sans JP"/>
                <a:ea typeface="Noto Sans JP"/>
                <a:cs typeface="Noto Sans JP"/>
              </a:rPr>
              <a:t>未達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78C589-6D7F-45D3-8A75-C11B1A39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76178F-71D7-4938-B18D-B50B440C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38675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最大ドローダウン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BE56CD-A6A7-4E8D-B8F4-7CF95A45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3867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-34.19%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72C096-A320-43FA-B939-B9F81E4B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386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許容範囲内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E89E83-004C-457B-8D67-7D24F7EE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68630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EE2E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3C32153-317B-4972-BE78-C857B9D2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70535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91C1C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B91C1C"/>
                </a:solidFill>
                <a:latin typeface="Noto Sans JP"/>
                <a:ea typeface="Noto Sans JP"/>
                <a:cs typeface="Noto Sans JP"/>
              </a:rPr>
              <a:t>高リスク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D9F48E1-BB79-4842-A719-79615E61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483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CDC814-3597-4531-A0D8-6A8355E3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TDA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CDEE5F-E479-495E-AB13-D3EADEC7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816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中程度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6F3986-EEDD-4203-A9AC-3131DD88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816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高複雑度でない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5D35714-DA21-4226-A090-7DE406F5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29225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CFC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A642CF8-E157-4813-A34C-D637331E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24827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803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15803D"/>
                </a:solidFill>
                <a:latin typeface="Noto Sans JP"/>
                <a:ea typeface="Noto Sans JP"/>
                <a:cs typeface="Noto Sans JP"/>
              </a:rPr>
              <a:t>合格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452E535-514C-4743-A40D-8F42C0E5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86450"/>
            <a:ext cx="10858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CFA2F86-D2B3-41BE-AACA-D65A5074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5309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B45309"/>
                </a:solidFill>
                <a:latin typeface="Noto Sans JP"/>
                <a:ea typeface="Noto Sans JP"/>
                <a:cs typeface="Noto Sans JP"/>
              </a:rPr>
              <a:t>判断：+1.54%の上昇予測は出ているが、モデル単独では「強い買い根拠」にしない。監視候補として扱う。</a:t>
            </a:r>
          </a:p>
        </p:txBody>
      </p:sp>
    </p:spTree>
    <p:extLst>
      <p:ext uri="{BB962C8B-B14F-4D97-AF65-F5344CB8AC3E}">
        <p14:creationId xmlns:p14="http://schemas.microsoft.com/office/powerpoint/2010/main" val="13758119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A3DE24-FD26-45E7-BD79-DF2E95AF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6ステップの確認手順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E0400-AA45-4A60-A0CD-5CF1998A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初心者は、この順番で判断すれば迷いにくい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2EBA17-F8CA-493C-94C5-AB41EFE3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817038-DEF2-4244-89FB-D0D0EF30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C9166-74D4-4AE4-822C-A2AAD9B8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43250"/>
            <a:ext cx="52387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9ADE9-5CF1-4006-94FC-2FBB12A7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43250"/>
            <a:ext cx="52387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8432F-7296-4537-889F-EBCC19E0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43250"/>
            <a:ext cx="52387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8A371E-169E-44F5-AB5B-A158B7C7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52387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1A830-6D9C-4E3F-925C-54E4335B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43250"/>
            <a:ext cx="52387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5C3C9C-70EE-4FC3-9223-9B39A8DC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0"/>
            <a:ext cx="1619250" cy="2381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3CE3A8-EF5B-4E51-B023-CBB63C85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305050"/>
            <a:ext cx="5715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C55C93-9DFB-4DBC-874D-BFFE607B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333625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272782-5C67-422D-AA35-41D3C598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予測方向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CB9F8B-49A6-4A10-9B0C-1BFC93F3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8615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プラス／マイナス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850AF2-9F12-41E7-A428-8E5F7964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95500"/>
            <a:ext cx="1619250" cy="2381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8FBDD1-4051-4858-A6C0-A1AD1BA3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05050"/>
            <a:ext cx="5715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AC00A-3DD6-4240-B314-986F379A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33625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59F1CA-BE59-42BF-9447-20A3029E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4800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改善率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30BEA4-BA2F-47F0-99A6-B3D6AB79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8615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5%以上か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389A74-3E8D-4CDF-AE59-B6BAB246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95500"/>
            <a:ext cx="1619250" cy="2381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349D61-B043-4F57-BD70-0D748C63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305050"/>
            <a:ext cx="5715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EAAA54-0AFA-4762-A6F8-71412BB1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333625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DD95B6-9A56-4986-A8D3-E52F3721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4800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方向一致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23F8F5-2291-4294-BF63-C939ACF1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8615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55%以上か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E59892-FB9C-47CD-B8A4-D5BDD020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1619250" cy="2381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2AEACA-3F24-4103-B08F-584A5341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05050"/>
            <a:ext cx="5715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78BD5E-AA1B-4586-90B5-BFBDE4DF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33625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515267-D828-4063-8C8C-B66DB49B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4800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直近安定性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2C03BB-FE94-41E9-B21C-FD1DC8D4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8615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RMSE乖離1.25倍以内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5622A7-66C4-4712-86B4-72203986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1619250" cy="2381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D8AA2F-7100-4219-85F3-C8C7EB4C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305050"/>
            <a:ext cx="5715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07CCB1-08E8-40A9-848E-9E4156AB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333625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064392-18C8-4015-B45F-DAC7D6C3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4800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運用成績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1C8BF8-E7E8-4945-84A2-BA5CEB89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8615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買い持ち超え</a:t>
            </a:r>
          </a:p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Sharpe 1以上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B6F052-632F-44C0-A8DE-DE124754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095500"/>
            <a:ext cx="1619250" cy="2381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305DB2-77AC-4E7B-A885-E802053C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2305050"/>
            <a:ext cx="5715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E02AD6-D982-47EE-8543-25160FE2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2333625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651DB2-1901-4D97-9329-44991C13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4800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TDA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F65A9F-7FC3-491A-9F63-2462CF7E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8615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高複雑度ではないか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65D4A8-BD85-4E5E-9054-3F0A6721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095875"/>
            <a:ext cx="8915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0A2063-077C-4762-995B-A0F90548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238750"/>
            <a:ext cx="8420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途中で重大な未達があれば、投資額を減らす・見送る・他の情報を確認する</a:t>
            </a:r>
          </a:p>
        </p:txBody>
      </p:sp>
    </p:spTree>
    <p:extLst>
      <p:ext uri="{BB962C8B-B14F-4D97-AF65-F5344CB8AC3E}">
        <p14:creationId xmlns:p14="http://schemas.microsoft.com/office/powerpoint/2010/main" val="16854278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E73504-C3A7-4ADD-B82B-8229BEC8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投資判断のまとめ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5F81A-1C99-4480-8FED-0AF8AE29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最終チェック：数字が同じ方向を示しているか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D2E34-4650-450E-9A78-2D72111C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D9E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764750-7D7D-4FE5-8459-F805FB1F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0ADBE-99DA-4337-8474-892A79B2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3352800" cy="363855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3DCC2E-2707-454C-A401-3C46427A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803D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15803D"/>
                </a:solidFill>
                <a:latin typeface="Noto Sans JP"/>
                <a:ea typeface="Noto Sans JP"/>
                <a:cs typeface="Noto Sans JP"/>
              </a:rPr>
              <a:t>比較的信頼しやすい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89089-6354-48A9-BF4E-A1122D55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03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5803D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D74253-5F7B-42D0-9569-E334301B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193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改善率 5%以上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B22518-6830-4431-B55F-8632D4F4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03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5803D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28EDD4-11E8-4E9B-8DFD-C610BE04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765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方向一致率 55%以上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BAE71F-1BB9-4A88-9ADC-C75FC234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03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5803D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75922E-E879-473B-A8CC-A7EDE67F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直近RMSEが安定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F2C5D6-C7F0-4B47-A7CC-130A5C33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03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5803D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C3F330-9356-4EF4-87DA-E3CC9B25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909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戦略が買い持ち超え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A94AA2-4C1D-45EE-84A3-29D13A9B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03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5803D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234866-D016-460B-A304-4F0E9D97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481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Sharpe 1以上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5C8AC0-2FB8-451C-A86A-03BB0DC4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03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5803D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5FB246-ED20-4890-BE59-8F756093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053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TDAが高複雑度でない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9BB423-E27C-44D4-B177-23EE807C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38300"/>
            <a:ext cx="3352800" cy="363855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C004D5-CB39-4106-B969-E6F6D998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4785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45309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B45309"/>
                </a:solidFill>
                <a:latin typeface="Noto Sans JP"/>
                <a:ea typeface="Noto Sans JP"/>
                <a:cs typeface="Noto Sans JP"/>
              </a:rPr>
              <a:t>慎重に扱う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47AA97-E01B-4010-B964-119E35EF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574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5309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B45309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4E97A3-F3EA-4729-9DAF-3AB4EE34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193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改善率 0～5%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19635C-A0D4-49C3-BB1C-F049684E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146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5309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B45309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8E9460-CBEA-4DBB-99FC-49C91F52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765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方向一致率 50～55%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4F5CDD-D4DF-43D5-862F-16EE58CB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718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5309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B45309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FEBF0B-6110-4C0C-8E8C-6606A7CF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337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予測レンジが広い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46FDC6-2CD8-490C-A813-EE1AC641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29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5309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B45309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7BF4ED-6715-4448-90C3-7090BA1A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909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RMSEが直近で悪化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E9F558-7AA9-4834-9FFB-27F285D4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862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5309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B45309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5C58C8-0675-49AE-B962-28F854BC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481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大きなドローダウン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949CD2-6710-4B2E-B556-629874FD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38300"/>
            <a:ext cx="3352800" cy="363855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5F374B-76B3-4AF0-848D-183BFB8C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4785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91C1C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B91C1C"/>
                </a:solidFill>
                <a:latin typeface="Noto Sans JP"/>
                <a:ea typeface="Noto Sans JP"/>
                <a:cs typeface="Noto Sans JP"/>
              </a:rPr>
              <a:t>信頼しにくい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9069B2-79F8-4EA6-B4B6-8F0A0811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574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91C1C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B91C1C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914B6D-6157-4452-AA19-0DE26116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193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改善率がマイナス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68184F-E3BC-4CEA-BFC3-2DDED070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146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91C1C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B91C1C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8D9C35-8A7E-455A-9AF5-1CCA74F3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765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方向一致率 50%未満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93404C-B372-4D10-ADD2-2DD5E92A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718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91C1C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B91C1C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9C085F-757B-48FF-8DA6-8867E03F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戦略リターンがマイナス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4FDC9A-0D1B-41F9-967F-A3B49355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29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91C1C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B91C1C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A67445-FECD-4E5D-ACA2-A3C4BCD0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909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買い持ちに大幅負け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06FD1D-0117-4EA0-9A9E-C150F005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862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91C1C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B91C1C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D9BA9D-5B25-4BB2-AFAC-B7DE96B3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481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Sharpe 0以下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4543A7-4CC2-4735-98F7-76C100A2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予測は「候補を絞る道具」。決算・材料・市場環境・損失許容額も確認して、最終判断は自分で行う。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2E7A87-9742-4D39-B130-A48DF09D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91C1C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B91C1C"/>
                </a:solidFill>
                <a:latin typeface="Noto Sans JP"/>
                <a:ea typeface="Noto Sans JP"/>
                <a:cs typeface="Noto Sans JP"/>
              </a:rPr>
              <a:t>過去データの成績は、将来の利益を保証しません。</a:t>
            </a:r>
          </a:p>
        </p:txBody>
      </p:sp>
    </p:spTree>
    <p:extLst>
      <p:ext uri="{BB962C8B-B14F-4D97-AF65-F5344CB8AC3E}">
        <p14:creationId xmlns:p14="http://schemas.microsoft.com/office/powerpoint/2010/main" val="10851545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2026-08-04T12:29:10.8970000Z</dcterms:created>
  <dcterms:modified xsi:type="dcterms:W3CDTF">2026-08-04T12:29:10.8970000Z</dcterms:modified>
</coreProperties>
</file>